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65" r:id="rId5"/>
    <p:sldId id="266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285"/>
    <p:restoredTop sz="94184"/>
  </p:normalViewPr>
  <p:slideViewPr>
    <p:cSldViewPr snapToGrid="0">
      <p:cViewPr varScale="1">
        <p:scale>
          <a:sx n="93" d="100"/>
          <a:sy n="93" d="100"/>
        </p:scale>
        <p:origin x="224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5985C-4A3A-B035-3C97-9249593C9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93CE8-E7D7-3EDB-46C6-B8EC03775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8C1AB-62D0-52DF-281F-77C42CA3A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606-CBC0-C145-B591-62BE129C27CC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5B020-A623-0FC1-7C9E-57B9D7EE3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61F4E-4BD9-5C6C-FC7E-7A692887F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594C6-31AC-774D-B359-6FC1B332B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697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46447-DCF7-D2AF-50D3-20DFBE3AE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1CF54-BF08-43B2-1455-36C491989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37521-BDF0-EA66-222E-1655619CA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606-CBC0-C145-B591-62BE129C27CC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D4BC6-75D3-62E2-E0E0-7ADBEBE28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9C134-F78D-3E7E-0192-F19E88BC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594C6-31AC-774D-B359-6FC1B332B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903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07F39-20C3-BFB7-4C30-9C1453FD6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55B79-AFB6-1162-0ED6-1F5E9391B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6976F-C15C-CD60-24ED-69CB28F08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606-CBC0-C145-B591-62BE129C27CC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F5D8B-1366-D1AA-2FA8-8AF887B17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4F0C6-97C3-4C50-0230-C2EBD9FDF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594C6-31AC-774D-B359-6FC1B332B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20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D3CF3-E797-1300-6D3E-6188B9328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FC9F2-804F-70C3-0B3E-9B8DEE1531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FDC55-C517-F6C3-F99F-856D803F0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82FFC-A575-D1F3-5280-6602CDE5B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606-CBC0-C145-B591-62BE129C27CC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43856-7279-50F4-47E8-1DA10318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0E420-3F46-4987-092E-62D280860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594C6-31AC-774D-B359-6FC1B332B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14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7F531-D500-BB6E-ABB7-3F29E6A60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8A001-11DB-BDDA-C5EA-8BC9DA4D4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F100D-7F1B-30C8-68E1-E84F8D90F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D69EB8-EB9D-1A71-8001-B555E89DD7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60F81A-99C5-E5D0-DF30-6E5D490CD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996750-3C6B-548D-D93A-D6E72C0D4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606-CBC0-C145-B591-62BE129C27CC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791C73-791F-F909-38BE-441DE89BB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CF0B3A-405E-714A-1D9A-94EC72ED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594C6-31AC-774D-B359-6FC1B332B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5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B6B3F-33CA-2F1F-DB70-AFC10D9C2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040414-731C-72FD-69F9-305BEF26B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606-CBC0-C145-B591-62BE129C27CC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CF1CA-88F7-783D-2BC9-A943AEE5A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DBC340-47E9-02A5-CA41-338B9E3B8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594C6-31AC-774D-B359-6FC1B332B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94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5C8BB7-0A16-912D-2363-2698BA944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606-CBC0-C145-B591-62BE129C27CC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789358-0661-3249-AF37-5C93E5DF5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30707-E7A2-A26C-7BBF-3FD0F180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594C6-31AC-774D-B359-6FC1B332B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247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9DAF3-4285-31B5-4A89-A0E6A9B2B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2E460-B0D1-C788-862C-0AC82C973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B13B9-49D1-BC36-7D31-C8804B7C3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6B3816-F215-8831-660A-D4FB9C1C3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606-CBC0-C145-B591-62BE129C27CC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52663-1AFB-8EE6-C849-90259BE5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D97DB-1F81-1FDC-FA40-AC805E699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594C6-31AC-774D-B359-6FC1B332B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6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F7947-3BD8-74C9-4A23-6BE2CC90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AAAD5-1885-7845-98EB-06B886FDBC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8473F-097F-7C73-2983-8DEFE581B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DB3DD-AB33-EB9A-0237-C7205C9E7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606-CBC0-C145-B591-62BE129C27CC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D3430-F827-BA3B-9197-A571D3F42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A8030-9E4A-804B-FB61-923B14C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594C6-31AC-774D-B359-6FC1B332B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473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594EE-5B6C-31F4-28F9-5A7A1E794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D8A40-C10B-1DD9-70B1-FF4BCB727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53BD3-9BD8-E331-29C4-6AB9F8CE0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606-CBC0-C145-B591-62BE129C27CC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A7A7A-BBE0-0A04-656F-4B0FFFE1E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EF4DA-7806-93A1-2307-B8BC5FE78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594C6-31AC-774D-B359-6FC1B332B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98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7E03BF-C70A-C32A-4439-3281E15E8C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5C1D3-C593-A560-61F2-14F85C64D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12CFD-9BE6-1FE6-C2A3-2503D272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606-CBC0-C145-B591-62BE129C27CC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75D55-A9D9-C266-EC37-2B688D95E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C3808-BCFC-9AD9-CAC3-855F0A253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594C6-31AC-774D-B359-6FC1B332B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5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4837E4-442B-3BFC-CE09-1763759E3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D1725-163A-7348-6DA9-CE883952F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BF73B-E87E-5E59-B9F8-C732488A95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413606-CBC0-C145-B591-62BE129C27CC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0EC02-37BA-53C2-18CD-4CD69D8D65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3F6CF-CB33-6911-7426-C4C9E6BE5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6594C6-31AC-774D-B359-6FC1B332B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8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301CA-E643-FB90-CBE1-81DE87579C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Third Bridge + Ever Peak Ltd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9BB528-F4DA-6EF9-634D-6D1A963D2F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Value Chain Analysis</a:t>
            </a:r>
          </a:p>
        </p:txBody>
      </p:sp>
      <p:pic>
        <p:nvPicPr>
          <p:cNvPr id="4" name="Picture 3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520AE260-766F-FDF6-BDDE-6B1BABA7A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7" y="6251575"/>
            <a:ext cx="16510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46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6F8A5-B4B7-9907-A97F-165860C69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112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Industry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494DC9-76E1-C0AE-9DD6-B243E5CD84E4}"/>
              </a:ext>
            </a:extLst>
          </p:cNvPr>
          <p:cNvSpPr txBox="1"/>
          <p:nvPr/>
        </p:nvSpPr>
        <p:spPr>
          <a:xfrm>
            <a:off x="973112" y="1675698"/>
            <a:ext cx="97148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Business Segment: Consumer Goods Company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Tennis shoes Company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Market Region: US + UK</a:t>
            </a:r>
          </a:p>
        </p:txBody>
      </p:sp>
      <p:pic>
        <p:nvPicPr>
          <p:cNvPr id="4" name="Picture 3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428A0FD8-B2E0-1D4C-8BAE-F144D088D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7" y="6251575"/>
            <a:ext cx="16510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426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7018C-6428-2E79-8795-F9E0A6C69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Chain Breakdown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EE70D7-20C9-F007-D66F-42E19752B504}"/>
              </a:ext>
            </a:extLst>
          </p:cNvPr>
          <p:cNvSpPr/>
          <p:nvPr/>
        </p:nvSpPr>
        <p:spPr>
          <a:xfrm>
            <a:off x="398744" y="2567836"/>
            <a:ext cx="5086611" cy="132556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Target Company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CCAB985-B474-0A2F-1097-D92A305A9B97}"/>
              </a:ext>
            </a:extLst>
          </p:cNvPr>
          <p:cNvSpPr/>
          <p:nvPr/>
        </p:nvSpPr>
        <p:spPr>
          <a:xfrm>
            <a:off x="6780758" y="1690688"/>
            <a:ext cx="3634636" cy="8771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Suppliers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FE6DA48-AEB8-4199-B47D-A75FA9F746BB}"/>
              </a:ext>
            </a:extLst>
          </p:cNvPr>
          <p:cNvSpPr/>
          <p:nvPr/>
        </p:nvSpPr>
        <p:spPr>
          <a:xfrm>
            <a:off x="6780758" y="2784172"/>
            <a:ext cx="3634636" cy="8771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Competitors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A885A42-7E1D-1225-3C52-8EB8C0A4962E}"/>
              </a:ext>
            </a:extLst>
          </p:cNvPr>
          <p:cNvSpPr/>
          <p:nvPr/>
        </p:nvSpPr>
        <p:spPr>
          <a:xfrm>
            <a:off x="6780758" y="3851591"/>
            <a:ext cx="3634636" cy="8771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Customers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1538F2A-99F7-1360-442E-1724E3E42A8C}"/>
              </a:ext>
            </a:extLst>
          </p:cNvPr>
          <p:cNvCxnSpPr>
            <a:cxnSpLocks/>
          </p:cNvCxnSpPr>
          <p:nvPr/>
        </p:nvCxnSpPr>
        <p:spPr>
          <a:xfrm flipH="1">
            <a:off x="5610614" y="2129262"/>
            <a:ext cx="990602" cy="789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6526544-E2A7-C995-3F44-5D911AE42454}"/>
              </a:ext>
            </a:extLst>
          </p:cNvPr>
          <p:cNvCxnSpPr>
            <a:cxnSpLocks/>
          </p:cNvCxnSpPr>
          <p:nvPr/>
        </p:nvCxnSpPr>
        <p:spPr>
          <a:xfrm>
            <a:off x="5610614" y="3893398"/>
            <a:ext cx="990602" cy="5408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A7B532A-1B41-F89E-4F44-F13526B2EE47}"/>
              </a:ext>
            </a:extLst>
          </p:cNvPr>
          <p:cNvSpPr txBox="1"/>
          <p:nvPr/>
        </p:nvSpPr>
        <p:spPr>
          <a:xfrm>
            <a:off x="5485355" y="3080654"/>
            <a:ext cx="1295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- - - - - - - - </a:t>
            </a:r>
          </a:p>
        </p:txBody>
      </p:sp>
      <p:pic>
        <p:nvPicPr>
          <p:cNvPr id="20" name="Picture 19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EF9C4FAE-A292-136E-8597-2A97DDADD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7" y="6251575"/>
            <a:ext cx="16510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942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C32C9-2601-C0C6-A9F2-0B570572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Tennis shoe Industry Structure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48BD6E-669F-1D41-BE5E-A5AF10ED86A9}"/>
              </a:ext>
            </a:extLst>
          </p:cNvPr>
          <p:cNvSpPr/>
          <p:nvPr/>
        </p:nvSpPr>
        <p:spPr>
          <a:xfrm>
            <a:off x="1109272" y="2458387"/>
            <a:ext cx="3057994" cy="371857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b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List out 3 suppliers with a brief explanation about what they provide</a:t>
            </a: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/>
              <a:t>BASF – durable materials supplier for Nike and Adidas</a:t>
            </a:r>
          </a:p>
          <a:p>
            <a:pPr algn="ctr"/>
            <a:r>
              <a:rPr lang="en-US" dirty="0" err="1"/>
              <a:t>Lanxess</a:t>
            </a:r>
            <a:r>
              <a:rPr lang="en-US" dirty="0"/>
              <a:t> – supplier of synthetic rubber for Nike</a:t>
            </a:r>
          </a:p>
          <a:p>
            <a:pPr algn="ctr"/>
            <a:r>
              <a:rPr lang="en-US" dirty="0"/>
              <a:t>Teijin – supplier of synthetic fibers for ASICS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315C01A-9091-32ED-D39C-711E5D8E4B3B}"/>
              </a:ext>
            </a:extLst>
          </p:cNvPr>
          <p:cNvSpPr/>
          <p:nvPr/>
        </p:nvSpPr>
        <p:spPr>
          <a:xfrm>
            <a:off x="8295806" y="2458387"/>
            <a:ext cx="3057994" cy="371857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b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List out 3 customers within the tennis shoe industry</a:t>
            </a:r>
          </a:p>
          <a:p>
            <a:pPr algn="ctr"/>
            <a:endParaRPr lang="en-US" i="1" dirty="0"/>
          </a:p>
          <a:p>
            <a:pPr algn="ctr"/>
            <a:r>
              <a:rPr lang="en-US" dirty="0"/>
              <a:t>Professional and amateur athletes</a:t>
            </a:r>
          </a:p>
          <a:p>
            <a:pPr algn="ctr"/>
            <a:r>
              <a:rPr lang="en-US" dirty="0"/>
              <a:t>Casual sport enthusiasts (play/gym/etc.)</a:t>
            </a:r>
          </a:p>
          <a:p>
            <a:pPr algn="ctr"/>
            <a:r>
              <a:rPr lang="en-US" dirty="0"/>
              <a:t>Tennis shoes for casual wear (lifestyle/fashion)</a:t>
            </a:r>
          </a:p>
          <a:p>
            <a:pPr algn="ctr"/>
            <a:endParaRPr lang="en-US" i="1" dirty="0"/>
          </a:p>
          <a:p>
            <a:pPr algn="ctr"/>
            <a:endParaRPr lang="en-US" i="1" dirty="0"/>
          </a:p>
          <a:p>
            <a:pPr algn="ctr"/>
            <a:endParaRPr lang="en-US" i="1" dirty="0"/>
          </a:p>
          <a:p>
            <a:pPr algn="ctr"/>
            <a:endParaRPr lang="en-US" i="1" dirty="0"/>
          </a:p>
          <a:p>
            <a:pPr algn="ctr"/>
            <a:endParaRPr lang="en-US" i="1" dirty="0"/>
          </a:p>
          <a:p>
            <a:pPr algn="ctr"/>
            <a:endParaRPr lang="en-US" i="1" dirty="0"/>
          </a:p>
          <a:p>
            <a:pPr algn="ctr"/>
            <a:endParaRPr lang="en-US" i="1" dirty="0"/>
          </a:p>
          <a:p>
            <a:pPr algn="ctr"/>
            <a:endParaRPr lang="en-US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CD70C0-9342-F54E-7E44-C7F9D605AB6B}"/>
              </a:ext>
            </a:extLst>
          </p:cNvPr>
          <p:cNvSpPr txBox="1"/>
          <p:nvPr/>
        </p:nvSpPr>
        <p:spPr>
          <a:xfrm>
            <a:off x="5209082" y="1957340"/>
            <a:ext cx="194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Competitors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E8ED06-49CB-CA5D-42B9-6C68BE051712}"/>
              </a:ext>
            </a:extLst>
          </p:cNvPr>
          <p:cNvSpPr txBox="1"/>
          <p:nvPr/>
        </p:nvSpPr>
        <p:spPr>
          <a:xfrm>
            <a:off x="2027420" y="1942823"/>
            <a:ext cx="194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Suppliers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BC1F99-8A5E-3FEB-41AF-1C560F21C482}"/>
              </a:ext>
            </a:extLst>
          </p:cNvPr>
          <p:cNvSpPr txBox="1"/>
          <p:nvPr/>
        </p:nvSpPr>
        <p:spPr>
          <a:xfrm>
            <a:off x="9029075" y="1966432"/>
            <a:ext cx="1947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3901A03-4149-1528-A50A-A7079726EA42}"/>
              </a:ext>
            </a:extLst>
          </p:cNvPr>
          <p:cNvSpPr/>
          <p:nvPr/>
        </p:nvSpPr>
        <p:spPr>
          <a:xfrm>
            <a:off x="4567003" y="2458387"/>
            <a:ext cx="3057994" cy="371857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b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List out 3 competitors within the tennis shoe industry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Nike – professional athletic footwear (known for performance and innovation)</a:t>
            </a:r>
          </a:p>
          <a:p>
            <a:pPr algn="ctr"/>
            <a:r>
              <a:rPr lang="en-US" dirty="0"/>
              <a:t>Adidas – stylish functional shoes for a broader consumer base</a:t>
            </a:r>
          </a:p>
          <a:p>
            <a:pPr algn="ctr"/>
            <a:r>
              <a:rPr lang="en-US" dirty="0"/>
              <a:t>ASICS – comfortable high-quality performance shoes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404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5B1F6-7EA9-BE34-C443-B9773CCD8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368" y="1081452"/>
            <a:ext cx="3582647" cy="609236"/>
          </a:xfrm>
        </p:spPr>
        <p:txBody>
          <a:bodyPr>
            <a:normAutofit/>
          </a:bodyPr>
          <a:lstStyle/>
          <a:p>
            <a:pPr algn="ctr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Eco-system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6248D-5FCB-E4AE-60AC-94D8A7B8C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230" y="1702503"/>
            <a:ext cx="3402767" cy="63278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How do suppliers, competitors and consumers interact with each other?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1132374-7193-2888-D100-A3B472AB8E0D}"/>
              </a:ext>
            </a:extLst>
          </p:cNvPr>
          <p:cNvSpPr/>
          <p:nvPr/>
        </p:nvSpPr>
        <p:spPr>
          <a:xfrm>
            <a:off x="614595" y="2347104"/>
            <a:ext cx="2758191" cy="45108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b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Suppliers provide key materials like rubber, synthetic fibers, and cushioning technologies, and each company is trying to secure access to the most innovative materials and technologies at the best prices.</a:t>
            </a: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Competitors are trying to appeal to new segments by strategic collaborations, sponsorships, marketing, limited-edition designs, and other unique features. The trends that become widespread, shape the market.</a:t>
            </a: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There has been a recent trend for sustainability, and both competitors and suppliers are trying to adapt to make more eco-friendly shoes.</a:t>
            </a: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167A0E-2E7D-21B4-058E-FD98969251EA}"/>
              </a:ext>
            </a:extLst>
          </p:cNvPr>
          <p:cNvSpPr/>
          <p:nvPr/>
        </p:nvSpPr>
        <p:spPr>
          <a:xfrm>
            <a:off x="8695543" y="2458412"/>
            <a:ext cx="2758191" cy="43995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Labour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and Supply Chain Regulations: governments demand that companies ensure ethical </a:t>
            </a:r>
            <a:r>
              <a:rPr lang="en-U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labour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practices</a:t>
            </a: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US: restrictions in materials that can be used</a:t>
            </a:r>
          </a:p>
          <a:p>
            <a:pPr algn="ctr"/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UK: restrictions in electronic components (smart shoes)</a:t>
            </a: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US: trade tensions with China affect the prices</a:t>
            </a:r>
          </a:p>
          <a:p>
            <a:pPr algn="ctr"/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UK: post-Brexit trade deals impact pricing and supply chain efficiency</a:t>
            </a: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Consumers demand more environmentally-friendly shoes</a:t>
            </a: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br>
              <a:rPr lang="en-GB" sz="1400" dirty="0"/>
            </a:b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5853FF2-E314-92CD-3E04-6A2BCF011B79}"/>
              </a:ext>
            </a:extLst>
          </p:cNvPr>
          <p:cNvSpPr txBox="1">
            <a:spLocks/>
          </p:cNvSpPr>
          <p:nvPr/>
        </p:nvSpPr>
        <p:spPr>
          <a:xfrm>
            <a:off x="4147280" y="1081452"/>
            <a:ext cx="3582647" cy="609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9B7B5F-4925-0B52-1C7C-B1024C3B919E}"/>
              </a:ext>
            </a:extLst>
          </p:cNvPr>
          <p:cNvSpPr txBox="1">
            <a:spLocks/>
          </p:cNvSpPr>
          <p:nvPr/>
        </p:nvSpPr>
        <p:spPr>
          <a:xfrm>
            <a:off x="4304676" y="1705653"/>
            <a:ext cx="3650103" cy="644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4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Look for insights into consumer </a:t>
            </a:r>
            <a:r>
              <a:rPr lang="en-GB" sz="1400" b="0" i="0" dirty="0" err="1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GB" sz="14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   and product innovations.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49582C6-786B-1DCF-0DAA-48105D7C9FD4}"/>
              </a:ext>
            </a:extLst>
          </p:cNvPr>
          <p:cNvSpPr txBox="1">
            <a:spLocks/>
          </p:cNvSpPr>
          <p:nvPr/>
        </p:nvSpPr>
        <p:spPr>
          <a:xfrm>
            <a:off x="7954779" y="1093267"/>
            <a:ext cx="4766872" cy="6092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800" b="1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Regulatory + Environmental Factors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C59ABD3-4B56-ED65-8810-F56A82F4ECD2}"/>
              </a:ext>
            </a:extLst>
          </p:cNvPr>
          <p:cNvSpPr txBox="1">
            <a:spLocks/>
          </p:cNvSpPr>
          <p:nvPr/>
        </p:nvSpPr>
        <p:spPr>
          <a:xfrm>
            <a:off x="8249588" y="1696595"/>
            <a:ext cx="3650103" cy="644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4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Research the regulatory landscape and environmental considerations.   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DC6AFC4-85EC-5FBA-1582-2029AE61F4E8}"/>
              </a:ext>
            </a:extLst>
          </p:cNvPr>
          <p:cNvSpPr/>
          <p:nvPr/>
        </p:nvSpPr>
        <p:spPr>
          <a:xfrm>
            <a:off x="4559509" y="2458412"/>
            <a:ext cx="2758191" cy="43995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b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* Focus on sustainability (eco-friendly, recycled materials)</a:t>
            </a:r>
          </a:p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* Rise of athleisure (a liking for shoes that combine performance and style)</a:t>
            </a:r>
          </a:p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* Social media platforms and influencer partnerships significantly drive sales.</a:t>
            </a:r>
            <a:b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*Graphene-enhances soles for better grip</a:t>
            </a:r>
          </a:p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*Bio-based materials and fully recyclable shoes</a:t>
            </a:r>
          </a:p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*Smart shoes</a:t>
            </a:r>
          </a:p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*3d printing for mid-soles</a:t>
            </a:r>
          </a:p>
          <a:p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*Designs tailored to specific surfaces</a:t>
            </a: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155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6F8A5-B4B7-9907-A97F-165860C69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579" y="365125"/>
            <a:ext cx="10099428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Suppliers Landscape</a:t>
            </a:r>
          </a:p>
        </p:txBody>
      </p:sp>
      <p:pic>
        <p:nvPicPr>
          <p:cNvPr id="7" name="Picture 6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0D07923D-1CBD-63BD-E60A-338DDA19B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7" y="6251575"/>
            <a:ext cx="1651000" cy="482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BE1123-B95E-1529-D207-97C32790D38D}"/>
              </a:ext>
            </a:extLst>
          </p:cNvPr>
          <p:cNvSpPr txBox="1"/>
          <p:nvPr/>
        </p:nvSpPr>
        <p:spPr>
          <a:xfrm>
            <a:off x="588579" y="1690688"/>
            <a:ext cx="11319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What information could we learn from Suppliers? </a:t>
            </a:r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Add 2-3 bullet points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A0FC35-D703-B7AD-88ED-1935C325DE25}"/>
              </a:ext>
            </a:extLst>
          </p:cNvPr>
          <p:cNvSpPr txBox="1"/>
          <p:nvPr/>
        </p:nvSpPr>
        <p:spPr>
          <a:xfrm>
            <a:off x="588579" y="3689984"/>
            <a:ext cx="1131964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2. If you had to identify one Expert who works at a Supplier, what job title would you be looking for? Why?</a:t>
            </a:r>
            <a:b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F3087F-7B96-445B-167B-7D54B4800982}"/>
              </a:ext>
            </a:extLst>
          </p:cNvPr>
          <p:cNvSpPr txBox="1"/>
          <p:nvPr/>
        </p:nvSpPr>
        <p:spPr>
          <a:xfrm>
            <a:off x="778933" y="2370667"/>
            <a:ext cx="105673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could learn how resilient the supply chain is: by looking at raw material trends, logistics, geographical </a:t>
            </a:r>
            <a:br>
              <a:rPr lang="en-US" dirty="0"/>
            </a:br>
            <a:r>
              <a:rPr lang="en-US" dirty="0"/>
              <a:t>dependencies and tariffs, compliance hurdles, and potential supply chain risks. 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A79BEF-526A-F86B-F3A9-8DCC4C6C7282}"/>
              </a:ext>
            </a:extLst>
          </p:cNvPr>
          <p:cNvSpPr txBox="1"/>
          <p:nvPr/>
        </p:nvSpPr>
        <p:spPr>
          <a:xfrm>
            <a:off x="778932" y="4424525"/>
            <a:ext cx="1060707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Job Title: Procurement Manager</a:t>
            </a:r>
          </a:p>
          <a:p>
            <a:endParaRPr lang="en-US" dirty="0"/>
          </a:p>
          <a:p>
            <a:r>
              <a:rPr lang="en-US" dirty="0"/>
              <a:t>Why: They are responsible for sourcing raw materials. They would know the landscape well and be able to </a:t>
            </a:r>
            <a:br>
              <a:rPr lang="en-US" dirty="0"/>
            </a:br>
            <a:r>
              <a:rPr lang="en-US" dirty="0"/>
              <a:t>explain the choices the company has been 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768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6F8A5-B4B7-9907-A97F-165860C69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579" y="365125"/>
            <a:ext cx="10099428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Competitors Landscape</a:t>
            </a:r>
          </a:p>
        </p:txBody>
      </p:sp>
      <p:pic>
        <p:nvPicPr>
          <p:cNvPr id="7" name="Picture 6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0D07923D-1CBD-63BD-E60A-338DDA19B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7" y="6251575"/>
            <a:ext cx="1651000" cy="482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BE1123-B95E-1529-D207-97C32790D38D}"/>
              </a:ext>
            </a:extLst>
          </p:cNvPr>
          <p:cNvSpPr txBox="1"/>
          <p:nvPr/>
        </p:nvSpPr>
        <p:spPr>
          <a:xfrm>
            <a:off x="588579" y="1690688"/>
            <a:ext cx="11319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1. What information could we learn from Competitors? </a:t>
            </a:r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Add 2-3 bullet points </a:t>
            </a:r>
            <a:endParaRPr lang="en-GB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A0FC35-D703-B7AD-88ED-1935C325DE25}"/>
              </a:ext>
            </a:extLst>
          </p:cNvPr>
          <p:cNvSpPr txBox="1"/>
          <p:nvPr/>
        </p:nvSpPr>
        <p:spPr>
          <a:xfrm>
            <a:off x="588579" y="3689984"/>
            <a:ext cx="1131964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2. If you had to identify one Expert who works at a Competitor, what job title would you be looking for? Why?</a:t>
            </a:r>
            <a:b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br>
              <a:rPr lang="en-GB" sz="1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1400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3E6966-7780-107D-8BA3-C49E1DABB40E}"/>
              </a:ext>
            </a:extLst>
          </p:cNvPr>
          <p:cNvSpPr txBox="1"/>
          <p:nvPr/>
        </p:nvSpPr>
        <p:spPr>
          <a:xfrm>
            <a:off x="588579" y="2183674"/>
            <a:ext cx="11595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could learn about their differentiation, pricing and marketing strategies, innovation trends, growth opportunities, </a:t>
            </a:r>
          </a:p>
          <a:p>
            <a:r>
              <a:rPr lang="en-US" dirty="0"/>
              <a:t>challenges, as well as niche players in the field.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3BDBD6-24D3-CB66-30F4-2D7C7DE8B2E4}"/>
              </a:ext>
            </a:extLst>
          </p:cNvPr>
          <p:cNvSpPr txBox="1"/>
          <p:nvPr/>
        </p:nvSpPr>
        <p:spPr>
          <a:xfrm>
            <a:off x="449502" y="4188928"/>
            <a:ext cx="996208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Job Title: Product Manager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Why: they would be able to explain their current product and the reasoning behind it in great depth. </a:t>
            </a:r>
            <a:br>
              <a:rPr lang="en-US" dirty="0"/>
            </a:br>
            <a:r>
              <a:rPr lang="en-US" dirty="0"/>
              <a:t>They would have done extensive market, customer base, and competitor analysis to decide </a:t>
            </a:r>
            <a:br>
              <a:rPr lang="en-US" dirty="0"/>
            </a:br>
            <a:r>
              <a:rPr lang="en-US" dirty="0"/>
              <a:t>what product features to focus 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53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6F8A5-B4B7-9907-A97F-165860C69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579" y="365125"/>
            <a:ext cx="10099428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Customers Landscape</a:t>
            </a:r>
          </a:p>
        </p:txBody>
      </p:sp>
      <p:pic>
        <p:nvPicPr>
          <p:cNvPr id="7" name="Picture 6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0D07923D-1CBD-63BD-E60A-338DDA19B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7" y="6251575"/>
            <a:ext cx="1651000" cy="482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BE1123-B95E-1529-D207-97C32790D38D}"/>
              </a:ext>
            </a:extLst>
          </p:cNvPr>
          <p:cNvSpPr txBox="1"/>
          <p:nvPr/>
        </p:nvSpPr>
        <p:spPr>
          <a:xfrm>
            <a:off x="588579" y="1690688"/>
            <a:ext cx="11319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1. What information could we learn from Customers? </a:t>
            </a:r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Add 2-3 bullet points </a:t>
            </a:r>
            <a:endParaRPr lang="en-GB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A0FC35-D703-B7AD-88ED-1935C325DE25}"/>
              </a:ext>
            </a:extLst>
          </p:cNvPr>
          <p:cNvSpPr txBox="1"/>
          <p:nvPr/>
        </p:nvSpPr>
        <p:spPr>
          <a:xfrm>
            <a:off x="588579" y="3689984"/>
            <a:ext cx="113196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2. If you had to identify one Expert who works at a Customer, what job title would you be looking for? Why?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8510CF-B5EF-9BAD-7439-0E2D378FB9DE}"/>
              </a:ext>
            </a:extLst>
          </p:cNvPr>
          <p:cNvSpPr txBox="1"/>
          <p:nvPr/>
        </p:nvSpPr>
        <p:spPr>
          <a:xfrm>
            <a:off x="588579" y="2183674"/>
            <a:ext cx="82929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Consumer segments (and potential growth in each), buying trends, loyalty drivers, </a:t>
            </a:r>
            <a:br>
              <a:rPr lang="en-US" dirty="0"/>
            </a:br>
            <a:r>
              <a:rPr lang="en-US" dirty="0"/>
              <a:t>sustainability focus (or lack there of).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B517E3-A0B8-B747-997A-729E5287D04E}"/>
              </a:ext>
            </a:extLst>
          </p:cNvPr>
          <p:cNvSpPr txBox="1"/>
          <p:nvPr/>
        </p:nvSpPr>
        <p:spPr>
          <a:xfrm>
            <a:off x="563731" y="4352714"/>
            <a:ext cx="114533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Job title: Marketing Manager of one of the leading companies</a:t>
            </a:r>
          </a:p>
          <a:p>
            <a:endParaRPr lang="en-US" dirty="0"/>
          </a:p>
          <a:p>
            <a:r>
              <a:rPr lang="en-US" dirty="0"/>
              <a:t>Why: They would have tested market knowledge: customer segments, buyer trends, most searched for key words, </a:t>
            </a:r>
            <a:br>
              <a:rPr lang="en-US" dirty="0"/>
            </a:br>
            <a:r>
              <a:rPr lang="en-US" dirty="0"/>
              <a:t>and gaps in the market.</a:t>
            </a:r>
          </a:p>
        </p:txBody>
      </p:sp>
    </p:spTree>
    <p:extLst>
      <p:ext uri="{BB962C8B-B14F-4D97-AF65-F5344CB8AC3E}">
        <p14:creationId xmlns:p14="http://schemas.microsoft.com/office/powerpoint/2010/main" val="2927456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2238</TotalTime>
  <Words>756</Words>
  <Application>Microsoft Macintosh PowerPoint</Application>
  <PresentationFormat>Widescreen</PresentationFormat>
  <Paragraphs>192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Third Bridge + Ever Peak Ltd</vt:lpstr>
      <vt:lpstr>Industry Overview</vt:lpstr>
      <vt:lpstr>Value Chain Breakdown</vt:lpstr>
      <vt:lpstr>Tennis shoe Industry Structure</vt:lpstr>
      <vt:lpstr>Eco-system</vt:lpstr>
      <vt:lpstr>Suppliers Landscape</vt:lpstr>
      <vt:lpstr>Competitors Landscape</vt:lpstr>
      <vt:lpstr>Customers Landscape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Third Bridge + Ever Peak Ltd</dc:title>
  <dc:creator>Jennifer Quirke</dc:creator>
  <cp:lastModifiedBy>Microsoft Office User</cp:lastModifiedBy>
  <cp:revision>13</cp:revision>
  <dcterms:created xsi:type="dcterms:W3CDTF">2024-03-21T11:59:32Z</dcterms:created>
  <dcterms:modified xsi:type="dcterms:W3CDTF">2026-09-23T22:30:03Z</dcterms:modified>
</cp:coreProperties>
</file>